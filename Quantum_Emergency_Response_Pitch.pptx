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035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C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8720" y="1188720"/>
            <a:ext cx="292608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32B"/>
                </a:solidFill>
                <a:latin typeface="Arial"/>
              </a:defRPr>
            </a:pPr>
            <a:r>
              <a:t>OPEN INNOVATION HACKATHON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37360"/>
            <a:ext cx="9784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8FAFC"/>
                </a:solidFill>
                <a:latin typeface="Georgia"/>
              </a:defRPr>
            </a:pPr>
            <a:r>
              <a:t>Quantum Emergency Response</a:t>
            </a:r>
          </a:p>
          <a:p>
            <a:pPr>
              <a:spcBef>
                <a:spcPts val="1000"/>
              </a:spcBef>
              <a:defRPr sz="1800">
                <a:solidFill>
                  <a:srgbClr val="00C49F"/>
                </a:solidFill>
                <a:latin typeface="Arial"/>
              </a:defRPr>
            </a:pPr>
            <a:r>
              <a:t>Benchmarking Classical MILP, Simulated Quantum Annealing (SQA) &amp; QAOA Circuits for Real-Time Crisis Resource Allocation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749039"/>
            <a:ext cx="3017520" cy="1645920"/>
          </a:xfrm>
          <a:prstGeom prst="roundRect">
            <a:avLst/>
          </a:prstGeom>
          <a:solidFill>
            <a:srgbClr val="0B13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🚑 Multi-Entity Optimization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Simultaneously matching Ambulances → Emergencies → Hospitals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3749039"/>
            <a:ext cx="3017520" cy="1645920"/>
          </a:xfrm>
          <a:prstGeom prst="roundRect">
            <a:avLst/>
          </a:prstGeom>
          <a:solidFill>
            <a:srgbClr val="0B13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⚛️ Tri-Solver Benchmarking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Comparing MILP (HiGHS), SQA (QUBO), and QAOA (Qiskit)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749039"/>
            <a:ext cx="3017520" cy="1645920"/>
          </a:xfrm>
          <a:prstGeom prst="roundRect">
            <a:avLst/>
          </a:prstGeom>
          <a:solidFill>
            <a:srgbClr val="0B13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⚡ Production Web App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Full-stack React + FastAPI deployment live on Render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Arial"/>
              </a:defRPr>
            </a:pPr>
            <a:r>
              <a:t>Developer: GUNUPUDI SURYA SWARNITHA  |  Live App: https://quantum-emergency-response-1.onrender.com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5C4"/>
                </a:solidFill>
                <a:latin typeface="Arial"/>
              </a:defRPr>
            </a:pPr>
            <a:r>
              <a:t>THE CRISIS IMPERATIVE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Seconds Save Lives: Multi-Incident Crises Overwhelm Manual Emergency Dispatch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EF4444"/>
                </a:solidFill>
                <a:latin typeface="Georgia"/>
              </a:defRPr>
            </a:pPr>
            <a:r>
              <a:t>🚨 The Emergency Resource Bottleneck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Simultaneous High-Severity Incidents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Mass accidents and natural disasters trigger multiple concurrent 911 calls, stretching fleet capacities to critical limits.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Multi-Layered Operational Constraints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Dispatchers must evaluate incident severity, transit distance, ambulance capacities, and receiving hospital bed availability.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Fatal Human Cognitive Overload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Manual decision-making under severe pressure leads to extended response delays and sub-optimal hospital routing.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64592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0075C4"/>
                </a:solidFill>
                <a:latin typeface="Georgia"/>
              </a:defRPr>
            </a:pPr>
            <a:r>
              <a:t>💡 Mathematical Optimization Modeling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Combinatorial Matching Architecture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Models the problem as a multi-objective graph matching problem: Ambulance → Incident → Hospital.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Multi-Factor Cost Objective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Minimizes a weighted combination of response time, total transit distance, and unserved high-severity penalties.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Strict Capacity &amp; Severity Constraints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Ensures ambulance passenger bounds and hospital bed limits are strictly respected in every valid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Gunupudi Surya Swarnitha  |  Open Innovation Hackathon  |  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5C4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 Unified Optimization Pipeline Bridging Classical Solvers and Quantum Circuits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 b="1">
                <a:solidFill>
                  <a:srgbClr val="0075C4"/>
                </a:solidFill>
                <a:latin typeface="Arial"/>
              </a:defRPr>
            </a:pPr>
            <a:r>
              <a:t>1. Incident Input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  <a:latin typeface="Georgia"/>
              </a:defRPr>
            </a:pPr>
            <a:r>
              <a:t>Emergency Scenario</a:t>
            </a:r>
          </a:p>
          <a:p>
            <a:pPr>
              <a:spcBef>
                <a:spcPts val="1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GPS coordinates, incident severity (1-5), ambulance fleet status, and hospital capacities.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310128" y="3566160"/>
            <a:ext cx="128016" cy="228600"/>
          </a:xfrm>
          <a:prstGeom prst="rightArrow">
            <a:avLst/>
          </a:prstGeom>
          <a:solidFill>
            <a:srgbClr val="00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 b="1">
                <a:solidFill>
                  <a:srgbClr val="0075C4"/>
                </a:solidFill>
                <a:latin typeface="Arial"/>
              </a:defRPr>
            </a:pPr>
            <a:r>
              <a:t>2. Graph Formulation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  <a:latin typeface="Georgia"/>
              </a:defRPr>
            </a:pPr>
            <a:r>
              <a:t>Combinatorial Model</a:t>
            </a:r>
          </a:p>
          <a:p>
            <a:pPr>
              <a:spcBef>
                <a:spcPts val="1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Formulates cost matrix mapping all feasible Ambulance → Incident → Hospital triples.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35040" y="3566160"/>
            <a:ext cx="128016" cy="228600"/>
          </a:xfrm>
          <a:prstGeom prst="rightArrow">
            <a:avLst/>
          </a:prstGeom>
          <a:solidFill>
            <a:srgbClr val="00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 b="1">
                <a:solidFill>
                  <a:srgbClr val="F59E0B"/>
                </a:solidFill>
                <a:latin typeface="Arial"/>
              </a:defRPr>
            </a:pPr>
            <a:r>
              <a:t>3. Tri-Solver Engine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  <a:latin typeface="Georgia"/>
              </a:defRPr>
            </a:pPr>
            <a:r>
              <a:t>Multi-Algorithm Search</a:t>
            </a:r>
          </a:p>
          <a:p>
            <a:pPr>
              <a:spcBef>
                <a:spcPts val="1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Parallel execution across Classical MILP, Simulated Quantum Annealing (SQA), &amp; QAOA.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3566160"/>
            <a:ext cx="128016" cy="2286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4. Decision Dashboard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  <a:latin typeface="Georgia"/>
              </a:defRPr>
            </a:pPr>
            <a:r>
              <a:t>Metrics &amp; Dispatch</a:t>
            </a:r>
          </a:p>
          <a:p>
            <a:pPr>
              <a:spcBef>
                <a:spcPts val="1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Real-time comparison of coverage, travel distance, response times, &amp; execution latency.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Gunupudi Surya Swarnitha  |  Open Innovation Hackathon  |  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5C4"/>
                </a:solidFill>
                <a:latin typeface="Arial"/>
              </a:defRPr>
            </a:pPr>
            <a:r>
              <a:t>SOLVER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Three Distinct Algorithmic Paradigms Evaluated on Identical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47288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800" b="1">
                <a:solidFill>
                  <a:srgbClr val="0075C4"/>
                </a:solidFill>
                <a:latin typeface="Georgia"/>
              </a:defRPr>
            </a:pPr>
            <a:r>
              <a:t>Classical MILP</a:t>
            </a:r>
          </a:p>
          <a:p>
            <a:pPr>
              <a:spcBef>
                <a:spcPts val="200"/>
              </a:spcBef>
              <a:defRPr sz="1100" b="1">
                <a:solidFill>
                  <a:srgbClr val="64748B"/>
                </a:solidFill>
                <a:latin typeface="Arial"/>
              </a:defRPr>
            </a:pPr>
            <a:r>
              <a:t>SciPy / HiGHS Solver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Paradigm: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Mixed-Integer Linear Programming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Mechanism: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Branch-and-Cut with exact linear constraints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Strengths: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Deterministic, ultra-fast, 100% constraint guarantee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Role: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Gold-standard operational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47288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800" b="1">
                <a:solidFill>
                  <a:srgbClr val="F59E0B"/>
                </a:solidFill>
                <a:latin typeface="Georgia"/>
              </a:defRPr>
            </a:pPr>
            <a:r>
              <a:t>Simulated Quantum Annealing</a:t>
            </a:r>
          </a:p>
          <a:p>
            <a:pPr>
              <a:spcBef>
                <a:spcPts val="200"/>
              </a:spcBef>
              <a:defRPr sz="1100" b="1">
                <a:solidFill>
                  <a:srgbClr val="64748B"/>
                </a:solidFill>
                <a:latin typeface="Arial"/>
              </a:defRPr>
            </a:pPr>
            <a:r>
              <a:t>QUBO + Transverse Field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Paradigm: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Quantum-Inspired Classical Simulation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Mechanism: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Transverse-Field Ising Model QUBO exploration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Strengths: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Navigates non-convex energy landscapes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Role: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Explores global minimum alternative routes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645920"/>
            <a:ext cx="3447288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800" b="1">
                <a:solidFill>
                  <a:srgbClr val="00C49F"/>
                </a:solidFill>
                <a:latin typeface="Georgia"/>
              </a:defRPr>
            </a:pPr>
            <a:r>
              <a:t>QAOA Circuit</a:t>
            </a:r>
          </a:p>
          <a:p>
            <a:pPr>
              <a:spcBef>
                <a:spcPts val="200"/>
              </a:spcBef>
              <a:defRPr sz="1100" b="1">
                <a:solidFill>
                  <a:srgbClr val="64748B"/>
                </a:solidFill>
                <a:latin typeface="Arial"/>
              </a:defRPr>
            </a:pPr>
            <a:r>
              <a:t>Qiskit Quantum Simulator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Paradigm: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Variational Quantum Algorithm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Mechanism: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Parameterized quantum circuits (p-layers)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Strengths: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Direct mapping to real Quantum Hardware (QPU)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Role: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Pioneering exploration for future NISQ devices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Gunupudi Surya Swarnitha  |  Open Innovation Hackathon  |  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5C4"/>
                </a:solidFill>
                <a:latin typeface="Arial"/>
              </a:defRPr>
            </a:pPr>
            <a:r>
              <a:t>BENCHMARK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Benchmarks Demonstrate MILP Dominates Speed While SQA Finds Distance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457200"/>
          </a:xfrm>
          <a:prstGeom prst="round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C49F"/>
                </a:solidFill>
                <a:latin typeface="Arial"/>
              </a:defRPr>
            </a:pPr>
            <a:r>
              <a:t>STANDARD TEST BENCHMARK SCENARIO:  3 Ambulances  |  5 Simultaneous Emergencies  |  2 Regional Hospitals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9456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255"/>
                <a:gridCol w="2468880"/>
                <a:gridCol w="2468880"/>
                <a:gridCol w="2834640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Evaluation Metric</a:t>
                      </a:r>
                    </a:p>
                  </a:txBody>
                  <a:tcPr marL="109728" marR="109728" marT="73152" marB="73152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Classical MILP</a:t>
                      </a:r>
                    </a:p>
                  </a:txBody>
                  <a:tcPr marL="109728" marR="109728" marT="73152" marB="73152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Simulated Quantum Annealing (SQA)</a:t>
                      </a:r>
                    </a:p>
                  </a:txBody>
                  <a:tcPr marL="109728" marR="109728" marT="73152" marB="73152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Performance &amp; Trade-off Insight</a:t>
                      </a:r>
                    </a:p>
                  </a:txBody>
                  <a:tcPr marL="109728" marR="109728" marT="73152" marB="73152">
                    <a:solidFill>
                      <a:srgbClr val="0B132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Emergencies Served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75C4"/>
                          </a:solidFill>
                          <a:latin typeface="Arial"/>
                        </a:defRPr>
                      </a:pPr>
                      <a:r>
                        <a:t>5 / 5 (100% Coverage)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3 / 5 (60% Coverage)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MILP guarantees full emergency coverage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Total Travel Distance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75C4"/>
                          </a:solidFill>
                          <a:latin typeface="Arial"/>
                        </a:defRPr>
                      </a:pPr>
                      <a:r>
                        <a:t>30.0 km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21.0 km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SQA uncovers a 30% shorter distance subset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Average Response Time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75C4"/>
                          </a:solidFill>
                          <a:latin typeface="Arial"/>
                        </a:defRPr>
                      </a:pPr>
                      <a:r>
                        <a:t>10.8 minutes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12.6 minutes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MILP dispatches 1.8 minutes faster on average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High-Severity Incidents Served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75C4"/>
                          </a:solidFill>
                          <a:latin typeface="Arial"/>
                        </a:defRPr>
                      </a:pPr>
                      <a:r>
                        <a:t>3 / 3 (100%)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2 / 3 (66.7%)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MILP strictly prioritizes critical patient care</a:t>
                      </a:r>
                    </a:p>
                  </a:txBody>
                  <a:tcPr marL="109728" marR="109728" marT="73152" marB="73152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Execution Runtime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75C4"/>
                          </a:solidFill>
                          <a:latin typeface="Arial"/>
                        </a:defRPr>
                      </a:pPr>
                      <a:r>
                        <a:t>6.14 ms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29,772.55 ms (~29.8 s)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Classical MILP is ~4,800x faster in execution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303520"/>
            <a:ext cx="5212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0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1100" b="1">
                <a:solidFill>
                  <a:srgbClr val="0075C4"/>
                </a:solidFill>
                <a:latin typeface="Arial"/>
              </a:defRPr>
            </a:pPr>
            <a:r>
              <a:t>⚡ Classical Operational Winner: MILP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Delivers instant sub-10ms response with 100% emergency coverage and high-severity prioritization.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5303520"/>
            <a:ext cx="5212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🔍 Quantum-Inspired Insight: SQA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Slower on classical CPU simulation, but identifies localized route clusters with 30% lower distance.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Gunupudi Surya Swarnitha  |  Open Innovation Hackathon  |  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5C4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Production-Grade Full Stack Implementation Deployed Live on Render 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47288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700" b="1">
                <a:solidFill>
                  <a:srgbClr val="0075C4"/>
                </a:solidFill>
                <a:latin typeface="Georgia"/>
              </a:defRPr>
            </a:pPr>
            <a:r>
              <a:t>🎨 Frontend Tier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Framework: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React 18 + Vite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UI Styling: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Tailwind CSS &amp; Lucide Icons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Visualization: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Interactive Emergency Map &amp; Dynamic Route Overlay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Deployment: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Render Cloud static web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47288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700" b="1">
                <a:solidFill>
                  <a:srgbClr val="F59E0B"/>
                </a:solidFill>
                <a:latin typeface="Georgia"/>
              </a:defRPr>
            </a:pPr>
            <a:r>
              <a:t>⚡ Backend REST API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Framework: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Python 3.11 + FastAPI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Server: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Uvicorn ASGI Web Server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Data Models: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Pydantic scenario definitions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Solvers Integration: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Modular solver service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645920"/>
            <a:ext cx="3447288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700" b="1">
                <a:solidFill>
                  <a:srgbClr val="00C49F"/>
                </a:solidFill>
                <a:latin typeface="Georgia"/>
              </a:defRPr>
            </a:pPr>
            <a:r>
              <a:t>⚛️ Optimization &amp; Quantum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MILP Solver: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SciPy optimize + HiGHS backend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QUBO Builder: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Custom QUBO objective &amp; constraint generator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Quantum SDK: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Qiskit circuit composer &amp; simulator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Simulated Annealing: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Transverse-field Ising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Gunupudi Surya Swarnitha  |  Open Innovation Hackathon  |  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5C4"/>
                </a:solidFill>
                <a:latin typeface="Arial"/>
              </a:defRPr>
            </a:pPr>
            <a:r>
              <a:t>INSIGHTS &amp;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Honest Benchmarking Today Lays the Groundwork for Tomorrow's Hardware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0075C4"/>
                </a:solidFill>
                <a:latin typeface="Georgia"/>
              </a:defRPr>
            </a:pPr>
            <a:r>
              <a:t>🎯 Rigorous &amp; Honest Research Stance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No False Claims of Quantum Advantage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SQA is simulated on classical CPU hardware; hence runtime (~29.8s) reflects classical simulation overhead rather than native QPU speed.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Clear Trade-Off Understanding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Classical MILP remains the superior choice for small-to-medium real-time emergency dispatch where latency must be strictly sub-second.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Value of QUBO Formulations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Formulating emergency dispatch as a QUBO problem prepares disaster management systems for seamless transition to future quantum hardware.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64592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10B981"/>
                </a:solidFill>
                <a:latin typeface="Georgia"/>
              </a:defRPr>
            </a:pPr>
            <a:r>
              <a:t>🔮 Future Expansion Roadmap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Real Road-Network &amp; Live Traffic Data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Integrating OpenStreetMap &amp; live traffic APIs for actual driving duration rather than Euclidean distance.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Dynamic Emergency Arrivals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Extending solver models to handle streaming, unpredictable 911 incident arrivals in real time.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Physical QPU Execution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Deploying QAOA and QUBO models on real IBM Quantum or D-Wave hardware processors.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Hybrid MILP-Quantum Solvers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Using classical MILP for warm-start initialization to seed quantum variational loops.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Gunupudi Surya Swarnitha  |  Open Innovation Hackathon  |  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035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C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97135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Georgia"/>
              </a:defRPr>
            </a:pPr>
            <a:r>
              <a:t>Bridging Today's Emergency Response with Tomorrow's Quantum Computing</a:t>
            </a:r>
          </a:p>
          <a:p>
            <a:pPr>
              <a:spcBef>
                <a:spcPts val="600"/>
              </a:spcBef>
              <a:defRPr sz="1300">
                <a:solidFill>
                  <a:srgbClr val="00C49F"/>
                </a:solidFill>
                <a:latin typeface="Arial"/>
              </a:defRPr>
            </a:pPr>
            <a:r>
              <a:t>Quantum Emergency Response delivers a fully functional, cloud-deployed prototype that rigorously evaluates classical and quantum optimization for life-saving resource dispatch.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3108960" cy="1920240"/>
          </a:xfrm>
          <a:prstGeom prst="roundRect">
            <a:avLst/>
          </a:prstGeom>
          <a:solidFill>
            <a:srgbClr val="0B132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100% Operational Prototype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Working end-to-end full stack web application live on Render Cloud.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468880"/>
            <a:ext cx="3108960" cy="1920240"/>
          </a:xfrm>
          <a:prstGeom prst="roundRect">
            <a:avLst/>
          </a:prstGeom>
          <a:solidFill>
            <a:srgbClr val="0B132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Rigorous Benchmarking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Empirical evidence proving MILP speed vs SQA distance trade-offs.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468880"/>
            <a:ext cx="3108960" cy="1920240"/>
          </a:xfrm>
          <a:prstGeom prst="roundRect">
            <a:avLst/>
          </a:prstGeom>
          <a:solidFill>
            <a:srgbClr val="0B132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Quantum Preparedness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Mathematical QUBO &amp; QAOA formulations built for future QPU hardware.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663440"/>
            <a:ext cx="999713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Georgia"/>
              </a:defRPr>
            </a:pPr>
            <a:r>
              <a:t>Thank You!  |  Developer: GUNUPUDI SURYA SWARNITHA</a:t>
            </a:r>
          </a:p>
          <a:p>
            <a:pPr>
              <a:spcBef>
                <a:spcPts val="400"/>
              </a:spcBef>
              <a:defRPr sz="1200">
                <a:solidFill>
                  <a:srgbClr val="00C49F"/>
                </a:solidFill>
                <a:latin typeface="Arial"/>
              </a:defRPr>
            </a:pPr>
            <a:r>
              <a:t>Live App: https://quantum-emergency-response-1.onrender.com  |  GitHub: GSURYASWARNITHA1/Quantum_Emergency_response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Gunupudi Surya Swarnitha  |  Open Innovation Hackathon  |  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